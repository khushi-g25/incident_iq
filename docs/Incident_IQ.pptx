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 does the mechanical first hour of a support ticket and hands an engineer a starting point with the evidence attached. It never changes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columns map to the four phases on the next slide — intake and the gate are collapsed into step 1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Blue is ordinary deterministic code we unit-test. The one amber box is the only place a model decides anything, and it is wrapped in the red guardrail strip. Read-only sources along the bottom; the single write — one Jira comment — on the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top of the comment is for a support lead or PM deciding whether to escalate; the technical detail underneath is for the engineer who picks it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question this answers is 'what happens when it is wrong?' — a wrong comment costs a minute of reading. There is no path to a wrong write.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48840"/>
            <a:ext cx="96926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5600" b="1">
                <a:solidFill>
                  <a:srgbClr val="0B0B0B"/>
                </a:solidFill>
                <a:latin typeface="Calibri"/>
              </a:rPr>
              <a:t>Incident IQ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2400" b="0">
                <a:solidFill>
                  <a:srgbClr val="52514E"/>
                </a:solidFill>
                <a:latin typeface="Calibri"/>
              </a:rPr>
              <a:t>Automated first-pass triage for SQ / EPS tickets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3886200"/>
            <a:ext cx="13716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4206240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Ticket in, evidence-backed root cause 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943600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83827D"/>
                </a:solidFill>
                <a:latin typeface="Calibri"/>
              </a:rPr>
              <a:t>Read-only by construction  ·  nothing posts without a human approving 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20624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A78D6"/>
                </a:solidFill>
                <a:latin typeface="Calibri"/>
              </a:rPr>
              <a:t>WHAT IT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94944"/>
            <a:ext cx="10765231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0B0B0B"/>
                </a:solidFill>
                <a:latin typeface="Calibri"/>
              </a:rPr>
              <a:t>Give it a ticket key; it does the first pass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61872"/>
            <a:ext cx="10765231" cy="19050"/>
          </a:xfrm>
          <a:prstGeom prst="rect">
            <a:avLst/>
          </a:prstGeom>
          <a:solidFill>
            <a:srgbClr val="DF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13232" y="1691640"/>
            <a:ext cx="3436010" cy="301752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F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1920240"/>
            <a:ext cx="288737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2A78D6"/>
                </a:solidFill>
                <a:latin typeface="Calibri"/>
              </a:rPr>
              <a:t>1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2100" b="1">
                <a:solidFill>
                  <a:srgbClr val="0B0B0B"/>
                </a:solidFill>
                <a:latin typeface="Calibri"/>
              </a:rPr>
              <a:t>Reads the ticket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50" b="0">
                <a:solidFill>
                  <a:srgbClr val="52514E"/>
                </a:solidFill>
                <a:latin typeface="Calibri"/>
              </a:rPr>
              <a:t>Description, comments and attached logs. Pulls out ids, timestamps and error signatures.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7842" y="1691640"/>
            <a:ext cx="3436010" cy="301752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F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52162" y="1920240"/>
            <a:ext cx="288737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2A78D6"/>
                </a:solidFill>
                <a:latin typeface="Calibri"/>
              </a:rPr>
              <a:t>2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2100" b="1">
                <a:solidFill>
                  <a:srgbClr val="0B0B0B"/>
                </a:solidFill>
                <a:latin typeface="Calibri"/>
              </a:rPr>
              <a:t>Investigates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50" b="0">
                <a:solidFill>
                  <a:srgbClr val="52514E"/>
                </a:solidFill>
                <a:latin typeface="Calibri"/>
              </a:rPr>
              <a:t>Finds the real New Relic app names, queries errors and logs over the ticket's own window, then reads the service code on GitHub.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2452" y="1691640"/>
            <a:ext cx="3436010" cy="301752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F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6772" y="1920240"/>
            <a:ext cx="288737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2A78D6"/>
                </a:solidFill>
                <a:latin typeface="Calibri"/>
              </a:rPr>
              <a:t>3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2100" b="1">
                <a:solidFill>
                  <a:srgbClr val="0B0B0B"/>
                </a:solidFill>
                <a:latin typeface="Calibri"/>
              </a:rPr>
              <a:t>Writes it up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50" b="0">
                <a:solidFill>
                  <a:srgbClr val="52514E"/>
                </a:solidFill>
                <a:latin typeface="Calibri"/>
              </a:rPr>
              <a:t>Plain-English summary, a recommended fix, and every query it ran — as one Jira comment.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5074920"/>
            <a:ext cx="1076523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1">
                <a:solidFill>
                  <a:srgbClr val="0B0B0B"/>
                </a:solidFill>
                <a:latin typeface="Calibri"/>
              </a:rPr>
              <a:t>2–4 minutes  ·  about $0.65 of model time  ·  posts only on approval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52514E"/>
                </a:solidFill>
                <a:latin typeface="Calibri"/>
              </a:rPr>
              <a:t>Bounded on turns, dollars and tool calls at once, so a confused run stops rather than spirals.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20624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A78D6"/>
                </a:solidFill>
                <a:latin typeface="Calibr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94944"/>
            <a:ext cx="10765231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0B0B0B"/>
                </a:solidFill>
                <a:latin typeface="Calibri"/>
              </a:rPr>
              <a:t>How it is put together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61872"/>
            <a:ext cx="10765231" cy="19050"/>
          </a:xfrm>
          <a:prstGeom prst="rect">
            <a:avLst/>
          </a:prstGeom>
          <a:solidFill>
            <a:srgbClr val="DF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2935" y="1481328"/>
            <a:ext cx="9005824" cy="50657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20624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A78D6"/>
                </a:solidFill>
                <a:latin typeface="Calibri"/>
              </a:rPr>
              <a:t>THE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94944"/>
            <a:ext cx="10765231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0B0B0B"/>
                </a:solidFill>
                <a:latin typeface="Calibri"/>
              </a:rPr>
              <a:t>What lands on the ticket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61872"/>
            <a:ext cx="10765231" cy="19050"/>
          </a:xfrm>
          <a:prstGeom prst="rect">
            <a:avLst/>
          </a:prstGeom>
          <a:solidFill>
            <a:srgbClr val="DF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645920"/>
            <a:ext cx="5199735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800" b="1">
                <a:solidFill>
                  <a:srgbClr val="0B0B0B"/>
                </a:solidFill>
                <a:latin typeface="Calibri"/>
              </a:rPr>
              <a:t>Summary</a:t>
            </a:r>
          </a:p>
          <a:p>
            <a:pPr>
              <a:lnSpc>
                <a:spcPct val="130000"/>
              </a:lnSpc>
              <a:spcAft>
                <a:spcPts val="1800"/>
              </a:spcAft>
            </a:pPr>
            <a:r>
              <a:rPr sz="1400" b="0">
                <a:solidFill>
                  <a:srgbClr val="52514E"/>
                </a:solidFill>
                <a:latin typeface="Calibri"/>
              </a:rPr>
              <a:t>Four or five plain sentences. No file paths, no class names.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800" b="1">
                <a:solidFill>
                  <a:srgbClr val="0B0B0B"/>
                </a:solidFill>
                <a:latin typeface="Calibri"/>
              </a:rPr>
              <a:t>Recommended fix</a:t>
            </a:r>
          </a:p>
          <a:p>
            <a:pPr>
              <a:lnSpc>
                <a:spcPct val="130000"/>
              </a:lnSpc>
              <a:spcAft>
                <a:spcPts val="1800"/>
              </a:spcAft>
            </a:pPr>
            <a:r>
              <a:rPr sz="1400" b="0">
                <a:solidFill>
                  <a:srgbClr val="52514E"/>
                </a:solidFill>
                <a:latin typeface="Calibri"/>
              </a:rPr>
              <a:t>The change, where to make it, how to confirm it worked.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800" b="1">
                <a:solidFill>
                  <a:srgbClr val="0B0B0B"/>
                </a:solidFill>
                <a:latin typeface="Calibri"/>
              </a:rPr>
              <a:t>Checklist</a:t>
            </a:r>
          </a:p>
          <a:p>
            <a:pPr>
              <a:lnSpc>
                <a:spcPct val="130000"/>
              </a:lnSpc>
              <a:spcAft>
                <a:spcPts val="1800"/>
              </a:spcAft>
            </a:pPr>
            <a:r>
              <a:rPr sz="1400" b="0">
                <a:solidFill>
                  <a:srgbClr val="52514E"/>
                </a:solidFill>
                <a:latin typeface="Calibri"/>
              </a:rPr>
              <a:t>What triage established, the fix, and how to prevent a repeat.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78727" y="1645920"/>
            <a:ext cx="5199735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800" b="1">
                <a:solidFill>
                  <a:srgbClr val="0B0B0B"/>
                </a:solidFill>
                <a:latin typeface="Calibri"/>
              </a:rPr>
              <a:t>Evidence</a:t>
            </a:r>
          </a:p>
          <a:p>
            <a:pPr>
              <a:lnSpc>
                <a:spcPct val="130000"/>
              </a:lnSpc>
              <a:spcAft>
                <a:spcPts val="1800"/>
              </a:spcAft>
            </a:pPr>
            <a:r>
              <a:rPr sz="1400" b="0">
                <a:solidFill>
                  <a:srgbClr val="52514E"/>
                </a:solidFill>
                <a:latin typeface="Calibri"/>
              </a:rPr>
              <a:t>Every claim tied to the query or file that produced it.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800" b="1">
                <a:solidFill>
                  <a:srgbClr val="0B0B0B"/>
                </a:solidFill>
                <a:latin typeface="Calibri"/>
              </a:rPr>
              <a:t>Queries run · logs checked</a:t>
            </a:r>
          </a:p>
          <a:p>
            <a:pPr>
              <a:lnSpc>
                <a:spcPct val="130000"/>
              </a:lnSpc>
              <a:spcAft>
                <a:spcPts val="1800"/>
              </a:spcAft>
            </a:pPr>
            <a:r>
              <a:rPr sz="1400" b="0">
                <a:solidFill>
                  <a:srgbClr val="52514E"/>
                </a:solidFill>
                <a:latin typeface="Calibri"/>
              </a:rPr>
              <a:t>In full, so anyone can re-run them.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800" b="1">
                <a:solidFill>
                  <a:srgbClr val="0B0B0B"/>
                </a:solidFill>
                <a:latin typeface="Calibri"/>
              </a:rPr>
              <a:t>Confidence, checked</a:t>
            </a:r>
          </a:p>
          <a:p>
            <a:pPr>
              <a:lnSpc>
                <a:spcPct val="130000"/>
              </a:lnSpc>
              <a:spcAft>
                <a:spcPts val="1800"/>
              </a:spcAft>
            </a:pPr>
            <a:r>
              <a:rPr sz="1400" b="0">
                <a:solidFill>
                  <a:srgbClr val="52514E"/>
                </a:solidFill>
                <a:latin typeface="Calibri"/>
              </a:rPr>
              <a:t>Capped against what the run actually verified — and any downgrade is printed, not hidden.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5029200"/>
            <a:ext cx="10765231" cy="1005840"/>
          </a:xfrm>
          <a:prstGeom prst="roundRect">
            <a:avLst>
              <a:gd name="adj" fmla="val 6000"/>
            </a:avLst>
          </a:prstGeom>
          <a:solidFill>
            <a:srgbClr val="FDF7E9"/>
          </a:solidFill>
          <a:ln w="12700">
            <a:solidFill>
              <a:srgbClr val="E2A5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285232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0B0B0B"/>
                </a:solidFill>
                <a:latin typeface="Calibri"/>
              </a:rPr>
              <a:t>Written for two readers at once: a support lead gets the whole picture before reaching anything with a file path in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20624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A78D6"/>
                </a:solidFill>
                <a:latin typeface="Calibri"/>
              </a:rPr>
              <a:t>TRUST BOUNDARIES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94944"/>
            <a:ext cx="10765231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0B0B0B"/>
                </a:solidFill>
                <a:latin typeface="Calibri"/>
              </a:rPr>
              <a:t>What it cannot 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61872"/>
            <a:ext cx="10765231" cy="19050"/>
          </a:xfrm>
          <a:prstGeom prst="rect">
            <a:avLst/>
          </a:prstGeom>
          <a:solidFill>
            <a:srgbClr val="DF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645920"/>
            <a:ext cx="10765231" cy="4663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800" b="1">
                <a:solidFill>
                  <a:srgbClr val="0B0B0B"/>
                </a:solidFill>
                <a:latin typeface="Calibri"/>
              </a:rPr>
              <a:t>It cannot change anything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00" b="0">
                <a:solidFill>
                  <a:srgbClr val="52514E"/>
                </a:solidFill>
                <a:latin typeface="Calibri"/>
              </a:rPr>
              <a:t>No writes, no shell, no file edits, no ticket transitions — denied on every tool call, not by asking the model nicely.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1800" b="1">
                <a:solidFill>
                  <a:srgbClr val="0B0B0B"/>
                </a:solidFill>
                <a:latin typeface="Calibri"/>
              </a:rPr>
              <a:t>The clients have no write methods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00" b="0">
                <a:solidFill>
                  <a:srgbClr val="52514E"/>
                </a:solidFill>
                <a:latin typeface="Calibri"/>
              </a:rPr>
              <a:t>The boundary is the code, not the prompt. There is no function to call that would modify New Relic or GitHub.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1800" b="1">
                <a:solidFill>
                  <a:srgbClr val="0B0B0B"/>
                </a:solidFill>
                <a:latin typeface="Calibri"/>
              </a:rPr>
              <a:t>One side effect exists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00" b="0">
                <a:solidFill>
                  <a:srgbClr val="52514E"/>
                </a:solidFill>
                <a:latin typeface="Calibri"/>
              </a:rPr>
              <a:t>A Jira comment, and only after a human clicks Approve.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4617720"/>
            <a:ext cx="2554147" cy="137160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F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4800600"/>
            <a:ext cx="384048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4946904"/>
            <a:ext cx="22249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900" b="1">
                <a:solidFill>
                  <a:srgbClr val="0B0B0B"/>
                </a:solidFill>
                <a:latin typeface="Calibri"/>
              </a:rPr>
              <a:t>13</a:t>
            </a:r>
          </a:p>
          <a:p>
            <a:pPr>
              <a:lnSpc>
                <a:spcPct val="112000"/>
              </a:lnSpc>
              <a:spcAft>
                <a:spcPts val="100"/>
              </a:spcAft>
            </a:pPr>
            <a:r>
              <a:rPr sz="1200" b="0">
                <a:solidFill>
                  <a:srgbClr val="52514E"/>
                </a:solidFill>
                <a:latin typeface="Calibri"/>
              </a:rPr>
              <a:t>read-only tools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0259" y="4617720"/>
            <a:ext cx="2554147" cy="137160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F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14851" y="4800600"/>
            <a:ext cx="384048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4851" y="4946904"/>
            <a:ext cx="22249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900" b="1">
                <a:solidFill>
                  <a:srgbClr val="0B0B0B"/>
                </a:solidFill>
                <a:latin typeface="Calibri"/>
              </a:rPr>
              <a:t>95</a:t>
            </a:r>
          </a:p>
          <a:p>
            <a:pPr>
              <a:lnSpc>
                <a:spcPct val="112000"/>
              </a:lnSpc>
              <a:spcAft>
                <a:spcPts val="100"/>
              </a:spcAft>
            </a:pPr>
            <a:r>
              <a:rPr sz="1200" b="0">
                <a:solidFill>
                  <a:srgbClr val="52514E"/>
                </a:solidFill>
                <a:latin typeface="Calibri"/>
              </a:rPr>
              <a:t>automated tests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7287" y="4617720"/>
            <a:ext cx="2554147" cy="137160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F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1879" y="4800600"/>
            <a:ext cx="384048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1879" y="4946904"/>
            <a:ext cx="22249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900" b="1">
                <a:solidFill>
                  <a:srgbClr val="0B0B0B"/>
                </a:solidFill>
                <a:latin typeface="Calibri"/>
              </a:rPr>
              <a:t>0</a:t>
            </a:r>
          </a:p>
          <a:p>
            <a:pPr>
              <a:lnSpc>
                <a:spcPct val="112000"/>
              </a:lnSpc>
              <a:spcAft>
                <a:spcPts val="100"/>
              </a:spcAft>
            </a:pPr>
            <a:r>
              <a:rPr sz="1200" b="0">
                <a:solidFill>
                  <a:srgbClr val="52514E"/>
                </a:solidFill>
                <a:latin typeface="Calibri"/>
              </a:rPr>
              <a:t>writes to production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24315" y="4617720"/>
            <a:ext cx="2554147" cy="137160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F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88907" y="4800600"/>
            <a:ext cx="384048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88907" y="4946904"/>
            <a:ext cx="22249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900" b="1">
                <a:solidFill>
                  <a:srgbClr val="0B0B0B"/>
                </a:solidFill>
                <a:latin typeface="Calibri"/>
              </a:rPr>
              <a:t>1</a:t>
            </a:r>
          </a:p>
          <a:p>
            <a:pPr>
              <a:lnSpc>
                <a:spcPct val="112000"/>
              </a:lnSpc>
              <a:spcAft>
                <a:spcPts val="100"/>
              </a:spcAft>
            </a:pPr>
            <a:r>
              <a:rPr sz="1200" b="0">
                <a:solidFill>
                  <a:srgbClr val="52514E"/>
                </a:solidFill>
                <a:latin typeface="Calibri"/>
              </a:rPr>
              <a:t>click to publish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